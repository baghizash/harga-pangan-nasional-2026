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63093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A1E33"/>
                </a:solidFill>
                <a:latin typeface="Noto Sans"/>
              </a:rPr>
              <a:t>Analisis Harga Pangan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5E2A72"/>
                </a:solidFill>
                <a:latin typeface="Noto Sans"/>
              </a:rPr>
              <a:t>Nasional Indonesia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60604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2A1E33"/>
                </a:solidFill>
                <a:latin typeface="Noto Sans"/>
              </a:rPr>
              <a:t>Beras, daging sapi, minyak goreng, gula pasir: tren, volatilitas, dan disparitas provinsi.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1148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Data harian PIHPS / Bank Indonesia: 13 komoditas, 34 provinsi, 1 Januari 2025 sampai 19 Oktober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E2A72"/>
                </a:solidFill>
                <a:latin typeface="Noto Sans"/>
              </a:rPr>
              <a:t>BAGHIZ ASSHIDDIQIE ARASYA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777240"/>
            <a:ext cx="4892040" cy="4160520"/>
          </a:xfrm>
          <a:prstGeom prst="roundRect">
            <a:avLst>
              <a:gd name="adj" fmla="val 6153"/>
            </a:avLst>
          </a:prstGeom>
          <a:solidFill>
            <a:srgbClr val="8A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85432" y="850392"/>
            <a:ext cx="4745736" cy="4014215"/>
          </a:xfrm>
          <a:prstGeom prst="roundRect">
            <a:avLst>
              <a:gd name="adj" fmla="val 4555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234440"/>
            <a:ext cx="40233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8F2E4"/>
                </a:solidFill>
                <a:latin typeface="Noto Sans"/>
              </a:rPr>
              <a:t>KENAIKAN TERTINGGI 2026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 i="0">
                <a:solidFill>
                  <a:srgbClr val="EF7D1A"/>
                </a:solidFill>
                <a:latin typeface="Noto Sans"/>
              </a:rPr>
              <a:t>+6,7%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FFFFFF"/>
                </a:solidFill>
                <a:latin typeface="Noto Sans"/>
              </a:rPr>
              <a:t>Minyak Goreng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8F2E4"/>
                </a:solidFill>
                <a:latin typeface="Noto Sans"/>
              </a:rPr>
              <a:t>Rata-rata Rp20.753 menjadi Rp22.146 per kg, tertinggi dari empat kelompok bahan pokok.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5230368"/>
            <a:ext cx="4892040" cy="713232"/>
          </a:xfrm>
          <a:prstGeom prst="roundRect">
            <a:avLst>
              <a:gd name="adj" fmla="val 17948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5358384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"/>
              </a:rPr>
              <a:t>Plus paket dashboard Power BI: star schema, DAX, panduan rakit.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Kenapa Harga Pangan?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903720" cy="4206240"/>
          </a:xfrm>
          <a:prstGeom prst="roundRect">
            <a:avLst>
              <a:gd name="adj" fmla="val 5434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6775704" cy="4078224"/>
          </a:xfrm>
          <a:prstGeom prst="roundRect">
            <a:avLst>
              <a:gd name="adj" fmla="val 403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62179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Beras, daging sapi, minyak goreng, dan gula pasir adalah bahan pokok yang harganya langsung menentukan daya beli jutaan rumah tangga Indonesia.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Ketika harga pangan naik 5-7% dalam setahun, yang paling terpukul adalah keluarga berpendapatan rendah, porsi belanja pangannya paling besar.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Analisis ini menjawab: kelompok mana yang naik paling tinggi di 2026, komoditas mana yang paling tidak stabil, di provinsi mana harganya paling mahal, dan apakah Ramadan benar-benar mendongkrak harga.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Semua jawaban diambil dari data harian resmi PIHPS/BI, bukan perkiraan.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417320"/>
            <a:ext cx="3959352" cy="1207008"/>
          </a:xfrm>
          <a:prstGeom prst="roundRect">
            <a:avLst>
              <a:gd name="adj" fmla="val 1212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81912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F7D1A"/>
                </a:solidFill>
                <a:latin typeface="Noto Sans"/>
              </a:rPr>
              <a:t>13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komoditas kebutuhan pokok dianalisis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2770632"/>
            <a:ext cx="3959352" cy="1207008"/>
          </a:xfrm>
          <a:prstGeom prst="roundRect">
            <a:avLst>
              <a:gd name="adj" fmla="val 1212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935224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F7D1A"/>
                </a:solidFill>
                <a:latin typeface="Noto Sans"/>
              </a:rPr>
              <a:t>34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provinsi dibandingkan harganya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4123944"/>
            <a:ext cx="3959352" cy="1499616"/>
          </a:xfrm>
          <a:prstGeom prst="roundRect">
            <a:avLst>
              <a:gd name="adj" fmla="val 9756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4306824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F7D1A"/>
                </a:solidFill>
                <a:latin typeface="Noto Sans"/>
              </a:rPr>
              <a:t>5-7%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kenaikan harga pangan dalam setahun yang paling terasa bagi keluarga berpendapatan rendah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70448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8A5CA6"/>
                </a:solidFill>
                <a:latin typeface="Noto Sans"/>
              </a:rPr>
              <a:t>Sumber data: API publik PIHPS / Bank Indonesia (bi.go.id/hargapangan), Pasar Tradisional.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Data dan Metode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291840" cy="2011680"/>
          </a:xfrm>
          <a:prstGeom prst="roundRect">
            <a:avLst>
              <a:gd name="adj" fmla="val 7272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F7D1A"/>
                </a:solidFill>
                <a:latin typeface="Noto Sans"/>
              </a:rPr>
              <a:t>203.077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baris data provinsi dari API PIHPS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3291840" cy="2011680"/>
          </a:xfrm>
          <a:prstGeom prst="roundRect">
            <a:avLst>
              <a:gd name="adj" fmla="val 727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F7D1A"/>
                </a:solidFill>
                <a:latin typeface="Noto Sans"/>
              </a:rPr>
              <a:t>6.097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A1E33"/>
                </a:solidFill>
                <a:latin typeface="Noto Sans"/>
              </a:rPr>
              <a:t>baris data nasional, disimpan terpisah dari level provinsi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417320"/>
            <a:ext cx="7571231" cy="4206240"/>
          </a:xfrm>
          <a:prstGeom prst="roundRect">
            <a:avLst>
              <a:gd name="adj" fmla="val 5434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78808" y="1481328"/>
            <a:ext cx="7443215" cy="4078224"/>
          </a:xfrm>
          <a:prstGeom prst="roundRect">
            <a:avLst>
              <a:gd name="adj" fmla="val 403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755648"/>
            <a:ext cx="6858000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Data harian API PIHPS: 1 Jan 2025 - 19 Okt 2026 (469 hari laporan), 6.097 baris nasional + 203.077 baris provinsi.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13 komoditas daun: 6 kualitas beras, 2 daging sapi, 3 minyak goreng, 2 gula pasir. API ini tidak menyediakan seri daun untuk telur/daging ayam/bawang, tidak dipakai, tidak dikarang.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Level nasional dan provinsi disimpan di tabel fakta TERPISAH sejak awal (fact_nasional, fact_provinsi), pelajaran dari proyek cabai, sehingga agregasi dan measure DAX selalu membaca satu grain tanpa guard khusus.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9 kombinasi komoditas-provinsi tidak memiliki seri laporan (mis. beras di Gorontalo), dicatat sebagai gap, tidak diisi angka lain.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Tren Nasional 2025-2026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526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Minyak Goreng rata-rata 2026 Rp22.146/kg (+6.7% vs 2025): kenaikan tertinggi.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Daging Sapi Rp144.214/kg (+6.0%); Beras Rp15.983/kg (+3.0%); Gula Pasir Rp19.539/kg (+2.4%).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Keempat kelompok bergerak naik sepanjang 2026, tekanan harga pangan bersifat luas, bukan satu komoditas saja.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46320"/>
            <a:ext cx="4526280" cy="1170432"/>
          </a:xfrm>
          <a:prstGeom prst="roundRect">
            <a:avLst>
              <a:gd name="adj" fmla="val 11718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4023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EF7D1A"/>
                </a:solidFill>
                <a:latin typeface="Noto Sans"/>
              </a:rPr>
              <a:t>Rp22.146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rata-rata minyak goreng per kg,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1417320"/>
            <a:ext cx="6336792" cy="3977639"/>
          </a:xfrm>
          <a:prstGeom prst="roundRect">
            <a:avLst>
              <a:gd name="adj" fmla="val 5747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13248" y="1481328"/>
            <a:ext cx="6208776" cy="3849624"/>
          </a:xfrm>
          <a:prstGeom prst="roundRect">
            <a:avLst>
              <a:gd name="adj" fmla="val 427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tren_nas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810512"/>
            <a:ext cx="5852160" cy="27381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Siapa Naik Paling Tinggi?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120640" cy="3520440"/>
          </a:xfrm>
          <a:prstGeom prst="roundRect">
            <a:avLst>
              <a:gd name="adj" fmla="val 6493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4992624" cy="3392424"/>
          </a:xfrm>
          <a:prstGeom prst="roundRect">
            <a:avLst>
              <a:gd name="adj" fmla="val 485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yoy_kelomp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83080"/>
            <a:ext cx="4526280" cy="24636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1481328"/>
            <a:ext cx="57150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Minyak Goreng: +6.7%, juara kenaikan, didorong Minyak Goreng Curah (+7.3%).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Daging Sapi: +6.0%, kedua tertinggi, harga rata-rata 2026 menembus Rp144.214/kg.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Beras: +3.0%, moderat tapi basisnya besar: Rp15.515 ke Rp15.983/kg.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  <a:buChar char="•"/>
            </a:pPr>
            <a:r>
              <a:rPr sz="1550" b="0" i="0">
                <a:solidFill>
                  <a:srgbClr val="2A1E33"/>
                </a:solidFill>
                <a:latin typeface="Noto Sans"/>
              </a:rPr>
              <a:t/>
            </a:r>
            <a:r>
              <a:rPr sz="1550">
                <a:solidFill>
                  <a:srgbClr val="2A1E33"/>
                </a:solidFill>
                <a:latin typeface="Noto Sans"/>
              </a:rPr>
              <a:t>Gula Pasir: +2.4%, kenaikan paling rendah, harga paling terkendali.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93792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394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E2A72"/>
                </a:solidFill>
                <a:latin typeface="Noto Sans"/>
              </a:rPr>
              <a:t>Kenaikan 2026 vs 2025:   Minyak Goreng +6,7%      Daging Sapi +6,0%      Beras +3,0%      Gula Pasir +2,4%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Volatilitas: Mana yang Paling Liar?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4572000" cy="1783080"/>
          </a:xfrm>
          <a:prstGeom prst="roundRect">
            <a:avLst>
              <a:gd name="adj" fmla="val 8205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397763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F7D1A"/>
                </a:solidFill>
                <a:latin typeface="Noto Sans"/>
              </a:rPr>
              <a:t>4,3%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8F2E4"/>
                </a:solidFill>
                <a:latin typeface="Noto Sans"/>
              </a:rPr>
              <a:t>CV Minyak Goreng Curah, komoditas paling volatile dari 13 komoditas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29000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Minyak Goreng Curah paling volatile: CV 4.3%, melonjak ke Rp20.750/kg pada 2026-06-04.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Gula Pasir Kualitas Premium paling stabil: CV 1.3%.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Pola: minyak goreng curah (tanpa merek, rantai pasok pendek) jauh lebih liar dibanding versi kemasan bermerek: kualitas kemasan = stabilitas harga.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  <a:buChar char="•"/>
            </a:pPr>
            <a:r>
              <a:rPr sz="1450" b="0" i="0">
                <a:solidFill>
                  <a:srgbClr val="2A1E33"/>
                </a:solidFill>
                <a:latin typeface="Noto Sans"/>
              </a:rPr>
              <a:t/>
            </a:r>
            <a:r>
              <a:rPr sz="1450">
                <a:solidFill>
                  <a:srgbClr val="2A1E33"/>
                </a:solidFill>
                <a:latin typeface="Noto Sans"/>
              </a:rPr>
              <a:t>Volatilitas tinggi = ketidakpastian bagi pedagang dan konsumen.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417320"/>
            <a:ext cx="6291072" cy="4206240"/>
          </a:xfrm>
          <a:prstGeom prst="roundRect">
            <a:avLst>
              <a:gd name="adj" fmla="val 5434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58968" y="1481328"/>
            <a:ext cx="6163056" cy="4078224"/>
          </a:xfrm>
          <a:prstGeom prst="roundRect">
            <a:avLst>
              <a:gd name="adj" fmla="val 4035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volatili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1764792"/>
            <a:ext cx="5715000" cy="33931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Puncak Serentak 13 Oktober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6720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Keempat kelompok mencapai titik tertinggi pada 13-14 Okt 2026: Beras Rp16.367, Daging Sapi Rp148.600, Minyak Goreng Rp22.850, Gula Pasir Rp19.950.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Pola yang sama terlihat pada proyek Harga Cabai (puncak 12 Okt 2026), ini lonjakan harga pangan luas, bukan ulah satu komoditas.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Bagi pemantau kebijakan: minggu kedua Oktober 2026 adalah momen tekanan maksimum harga pangan tahun ini.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417320"/>
            <a:ext cx="4142232" cy="2212848"/>
          </a:xfrm>
          <a:prstGeom prst="roundRect">
            <a:avLst>
              <a:gd name="adj" fmla="val 6611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691640"/>
            <a:ext cx="3566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Noto Sans"/>
              </a:rPr>
              <a:t>13 Okt 2026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Noto Sans"/>
              </a:rPr>
              <a:t>keempat kelompok mencapai titik tertingginya pada 13-14 Oktober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8503920" cy="2606040"/>
          </a:xfrm>
          <a:prstGeom prst="roundRect">
            <a:avLst>
              <a:gd name="adj" fmla="val 8771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3904488"/>
            <a:ext cx="8375904" cy="2478024"/>
          </a:xfrm>
          <a:prstGeom prst="roundRect">
            <a:avLst>
              <a:gd name="adj" fmla="val 664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punc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3913632"/>
            <a:ext cx="4846320" cy="24503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26880" y="3840480"/>
            <a:ext cx="2359152" cy="2606040"/>
          </a:xfrm>
          <a:prstGeom prst="roundRect">
            <a:avLst>
              <a:gd name="adj" fmla="val 6201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4187952"/>
            <a:ext cx="1828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E2A72"/>
                </a:solidFill>
                <a:latin typeface="Noto Sans"/>
              </a:rPr>
              <a:t>12 Okt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A1E33"/>
                </a:solidFill>
                <a:latin typeface="Noto Sans"/>
              </a:rPr>
              <a:t>puncak Harga Cabai, pola lonjakan yang sama persis.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Disparitas Antar Provinsi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Beras: Nusa Tenggara Barat Rp13.622/kg vs Kalimantan Tengah Rp19.094/kg, selisih 40.2%.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Daging Sapi: Nusa Tenggara Timur Rp117.522/kg vs Kalimantan Selatan Rp165.463/kg, selisih 40.8%.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Minyak Goreng: Kepulauan Riau vs Gorontalo (selisih 36.3%); Gula Pasir: Sulawesi Selatan vs Papua (selisih 37.1%).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Pola konsisten: provinsi timur dan kepulauan membayar 36-41% lebih mahal, logistik dan rantai pasok adalah bagian dari masalah harga.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440680"/>
            <a:ext cx="5486400" cy="914400"/>
          </a:xfrm>
          <a:prstGeom prst="roundRect">
            <a:avLst>
              <a:gd name="adj" fmla="val 14000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4184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2E4"/>
                </a:solidFill>
                <a:latin typeface="Noto Sans"/>
              </a:rPr>
              <a:t>Selisih termurah vs termahal: 36-41% di semua kelompok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376672" cy="4937760"/>
          </a:xfrm>
          <a:prstGeom prst="roundRect">
            <a:avLst>
              <a:gd name="adj" fmla="val 4629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3368" y="1481328"/>
            <a:ext cx="5248656" cy="4809744"/>
          </a:xfrm>
          <a:prstGeom prst="roundRect">
            <a:avLst>
              <a:gd name="adj" fmla="val 342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disparitas_provin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1709928"/>
            <a:ext cx="4800600" cy="318695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Apakah Ramadan Mendongkrak Harga?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76672" cy="4937760"/>
          </a:xfrm>
          <a:prstGeom prst="roundRect">
            <a:avLst>
              <a:gd name="adj" fmla="val 4629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5248656" cy="4809744"/>
          </a:xfrm>
          <a:prstGeom prst="roundRect">
            <a:avLst>
              <a:gd name="adj" fmla="val 3422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ramad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709928"/>
            <a:ext cx="4800600" cy="31869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463040"/>
            <a:ext cx="544068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Ramadan 2025: beras Rp15.194/kg (30 hari sebelum), Rp15.229/kg (selama), Rp15.266/kg (30 hari sesudah).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Ramadan 2026: Rp15.711/kg, Rp15.767/kg, Rp15.837/kg.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Kenaikan selama Ramadan hanya 0,2-0,4%, kecil. Narasi 'harga selalu melonjak saat puasa' tidak terbukti pada data 2025-2026 untuk beras.</a:t>
            </a:r>
          </a:p>
          <a:p>
            <a:pPr marL="190500" indent="-190500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  <a:buChar char="•"/>
            </a:pPr>
            <a:r>
              <a:rPr sz="1500" b="0" i="0">
                <a:solidFill>
                  <a:srgbClr val="2A1E33"/>
                </a:solidFill>
                <a:latin typeface="Noto Sans"/>
              </a:rPr>
              <a:t/>
            </a:r>
            <a:r>
              <a:rPr sz="1500">
                <a:solidFill>
                  <a:srgbClr val="2A1E33"/>
                </a:solidFill>
                <a:latin typeface="Noto Sans"/>
              </a:rPr>
              <a:t>Tekanan harga yang sesungguhnya terjadi di luar musim Ramadan: tren naik jangka panjang + lonjakan Oktober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5440680"/>
            <a:ext cx="5440680" cy="914400"/>
          </a:xfrm>
          <a:prstGeom prst="roundRect">
            <a:avLst>
              <a:gd name="adj" fmla="val 14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564184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"/>
              </a:rPr>
              <a:t>Efek Ramadan pada beras: hanya +0,2-0,4%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8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2A1E33"/>
                </a:solidFill>
                <a:latin typeface="Noto Sans"/>
              </a:rPr>
              <a:t>Penutup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1208" y="1097280"/>
            <a:ext cx="777240" cy="82296"/>
          </a:xfrm>
          <a:prstGeom prst="roundRect">
            <a:avLst>
              <a:gd name="adj" fmla="val 50000"/>
            </a:avLst>
          </a:prstGeom>
          <a:solidFill>
            <a:srgbClr val="EF7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720840" cy="3246120"/>
          </a:xfrm>
          <a:prstGeom prst="roundRect">
            <a:avLst>
              <a:gd name="adj" fmla="val 7042"/>
            </a:avLst>
          </a:prstGeom>
          <a:solidFill>
            <a:srgbClr val="DDC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35608"/>
            <a:ext cx="6592824" cy="3118103"/>
          </a:xfrm>
          <a:prstGeom prst="roundRect">
            <a:avLst>
              <a:gd name="adj" fmla="val 5278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603504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E2A72"/>
                </a:solidFill>
                <a:latin typeface="Noto Sans"/>
              </a:rPr>
              <a:t>Tiga pesan utama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A1E33"/>
                </a:solidFill>
                <a:latin typeface="Noto Sans"/>
              </a:rPr>
              <a:t>(1) Minyak goreng naik tertinggi (+6,7%) dan paling liar, pantau curah; (2) 13 Okt 2026 adalah puncak tekanan harga pangan nasional; (3) disparitas 36-41% antarprovinsi menuntut perhatian logistik, bukan cuma produksi.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71600"/>
            <a:ext cx="4142232" cy="1536192"/>
          </a:xfrm>
          <a:prstGeom prst="roundRect">
            <a:avLst>
              <a:gd name="adj" fmla="val 9523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27632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F7D1A"/>
                </a:solidFill>
                <a:latin typeface="Noto Sans"/>
              </a:rPr>
              <a:t>Dashboard Power BI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8F2E4"/>
                </a:solidFill>
                <a:latin typeface="Noto Sans"/>
              </a:rPr>
              <a:t>Star schema 5 tabel, measure DAX siap tempel, layout 4 halaman, panduan rakit langkah demi langkah.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081528"/>
            <a:ext cx="4142232" cy="1536192"/>
          </a:xfrm>
          <a:prstGeom prst="roundRect">
            <a:avLst>
              <a:gd name="adj" fmla="val 9523"/>
            </a:avLst>
          </a:prstGeom>
          <a:solidFill>
            <a:srgbClr val="F8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337560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E2A72"/>
                </a:solidFill>
                <a:latin typeface="Noto Sans"/>
              </a:rPr>
              <a:t>Terbuka untuk direproduksi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A1E33"/>
                </a:solidFill>
                <a:latin typeface="Noto Sans"/>
              </a:rPr>
              <a:t>Jalankan scripts/fetch_pihps.py lalu scripts/analyze.py: findings.json dan 12 chart dihitung ulang dari nol.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83112" cy="1463040"/>
          </a:xfrm>
          <a:prstGeom prst="roundRect">
            <a:avLst>
              <a:gd name="adj" fmla="val 11249"/>
            </a:avLst>
          </a:prstGeom>
          <a:solidFill>
            <a:srgbClr val="5E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 i="0">
                <a:solidFill>
                  <a:srgbClr val="FFFFFF"/>
                </a:solidFill>
                <a:latin typeface="Noto Sans"/>
              </a:rPr>
              <a:t>BAGHIZ ASSHIDDIQIE ARASYA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F7D1A"/>
                </a:solidFill>
                <a:latin typeface="Noto Sans"/>
              </a:rPr>
              <a:t>github.com/baghizash/harga-pangan-nasional-2026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5321808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8F2E4"/>
                </a:solidFill>
                <a:latin typeface="Noto Sans"/>
              </a:rPr>
              <a:t>Terima kasih. Silakan jelajahi repo dan dashboardnya, semua angka terbuka untuk dicek ulang.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